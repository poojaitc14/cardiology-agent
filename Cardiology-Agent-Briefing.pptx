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A1F33"/>
                </a:solidFill>
                <a:latin typeface="Segoe UI"/>
              </a:rPr>
              <a:t>🫀 Cardiology Clinical Decision Support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6586D"/>
                </a:solidFill>
                <a:latin typeface="Segoe UI"/>
              </a:rPr>
              <a:t>A tool-grounded AI agent that unifies patient records, drug data, and clinical guidelines into one evidence-backed answer for cardiologists — never a diagnosis, always decision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76E6A"/>
                </a:solidFill>
                <a:latin typeface="Segoe UI"/>
              </a:rPr>
              <a:t>EXECUTIVE 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1220175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sz="1100" b="1">
                <a:solidFill>
                  <a:srgbClr val="46586D"/>
                </a:solidFill>
                <a:latin typeface="Segoe UI"/>
              </a:rPr>
              <a:t>FastAPI · 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1735" y="4526280"/>
            <a:ext cx="1059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sz="1100" b="1">
                <a:solidFill>
                  <a:srgbClr val="46586D"/>
                </a:solidFill>
                <a:latin typeface="Segoe UI"/>
              </a:rPr>
              <a:t>LangGraph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8135" y="4526280"/>
            <a:ext cx="1059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sz="1100" b="1">
                <a:solidFill>
                  <a:srgbClr val="46586D"/>
                </a:solidFill>
                <a:latin typeface="Segoe UI"/>
              </a:rPr>
              <a:t>LangChain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4535" y="4526280"/>
            <a:ext cx="110752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sz="1100" b="1">
                <a:solidFill>
                  <a:srgbClr val="46586D"/>
                </a:solidFill>
                <a:latin typeface="Segoe UI"/>
              </a:rPr>
              <a:t>Azure OpenAI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9216" y="4526280"/>
            <a:ext cx="149376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sz="1100" b="1">
                <a:solidFill>
                  <a:srgbClr val="46586D"/>
                </a:solidFill>
                <a:latin typeface="Segoe UI"/>
              </a:rPr>
              <a:t>AWS DynamoDB · OpenSearch Serverless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7C8FA3"/>
                </a:solidFill>
                <a:latin typeface="Segoe UI"/>
              </a:rPr>
              <a:t>01 / 06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6547104"/>
            <a:ext cx="82296" cy="82296"/>
          </a:xfrm>
          <a:prstGeom prst="ellipse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FA3"/>
                </a:solidFill>
                <a:latin typeface="Segoe UI"/>
              </a:rPr>
              <a:t>CARDIOLOGY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256032" cy="27940"/>
          </a:xfrm>
          <a:prstGeom prst="rect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76E6A"/>
                </a:solidFill>
                <a:latin typeface="Segoe UI"/>
              </a:rPr>
              <a:t>01 — BUSINESS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33"/>
                </a:solidFill>
                <a:latin typeface="Segoe UI"/>
              </a:rPr>
              <a:t>Cardiovascular data is scattered. The answer shouldn't 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6586D"/>
                </a:solidFill>
                <a:latin typeface="Segoe UI"/>
              </a:rPr>
              <a:t>History, medications, allergies, labs, and guidelines live in different systems. Today a cardiologist checks each by hand; the agent checks them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14B4B"/>
                </a:solidFill>
                <a:latin typeface="Segoe UI"/>
              </a:rPr>
              <a:t>TODAY — FRAGMENTED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2651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A1F33"/>
                </a:solidFill>
                <a:latin typeface="Segoe UI"/>
              </a:rPr>
              <a:t>Patient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2651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A1F33"/>
                </a:solidFill>
                <a:latin typeface="Segoe UI"/>
              </a:rPr>
              <a:t>Medications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2651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A1F33"/>
                </a:solidFill>
                <a:latin typeface="Segoe UI"/>
              </a:rPr>
              <a:t>Allergies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2651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A1F33"/>
                </a:solidFill>
                <a:latin typeface="Segoe UI"/>
              </a:rPr>
              <a:t>Lab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26517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A1F33"/>
                </a:solidFill>
                <a:latin typeface="Segoe UI"/>
              </a:rPr>
              <a:t>Guidelines &amp; Drug Info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4892040"/>
            <a:ext cx="1371600" cy="6858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0A1F33"/>
                </a:solidFill>
                <a:latin typeface="Segoe UI"/>
              </a:rPr>
              <a:t>👨‍⚕️</a:t>
            </a:r>
          </a:p>
          <a:p>
            <a:pPr algn="ctr"/>
            <a:r>
              <a:rPr sz="1000">
                <a:solidFill>
                  <a:srgbClr val="46586D"/>
                </a:solidFill>
                <a:latin typeface="Segoe UI"/>
              </a:rPr>
              <a:t>Cardiologist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E14B4B"/>
                </a:solidFill>
                <a:latin typeface="Segoe UI"/>
              </a:rPr>
              <a:t>manual cross-referencing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965960" y="2615184"/>
            <a:ext cx="1234440" cy="2459736"/>
          </a:xfrm>
          <a:prstGeom prst="line">
            <a:avLst/>
          </a:prstGeom>
          <a:ln w="13970">
            <a:solidFill>
              <a:srgbClr val="E14B4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965960" y="3072384"/>
            <a:ext cx="1234440" cy="2002536"/>
          </a:xfrm>
          <a:prstGeom prst="line">
            <a:avLst/>
          </a:prstGeom>
          <a:ln w="13970">
            <a:solidFill>
              <a:srgbClr val="E14B4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965960" y="3529584"/>
            <a:ext cx="1234440" cy="1545336"/>
          </a:xfrm>
          <a:prstGeom prst="line">
            <a:avLst/>
          </a:prstGeom>
          <a:ln w="13970">
            <a:solidFill>
              <a:srgbClr val="E14B4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965960" y="3986784"/>
            <a:ext cx="1234440" cy="1088136"/>
          </a:xfrm>
          <a:prstGeom prst="line">
            <a:avLst/>
          </a:prstGeom>
          <a:ln w="13970">
            <a:solidFill>
              <a:srgbClr val="E14B4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965960" y="4443984"/>
            <a:ext cx="1234440" cy="630936"/>
          </a:xfrm>
          <a:prstGeom prst="line">
            <a:avLst/>
          </a:prstGeom>
          <a:ln w="13970">
            <a:solidFill>
              <a:srgbClr val="E14B4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0" y="2103120"/>
            <a:ext cx="15240" cy="402336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103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76E6A"/>
                </a:solidFill>
                <a:latin typeface="Segoe UI"/>
              </a:rPr>
              <a:t>WITH THE AGENT — UNIFIED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23160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0A1F33"/>
                </a:solidFill>
                <a:latin typeface="Segoe UI"/>
              </a:rPr>
              <a:t>Patient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807208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0A1F33"/>
                </a:solidFill>
                <a:latin typeface="Segoe UI"/>
              </a:rPr>
              <a:t>Medications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191256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0A1F33"/>
                </a:solidFill>
                <a:latin typeface="Segoe UI"/>
              </a:rPr>
              <a:t>Allergies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575304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0A1F33"/>
                </a:solidFill>
                <a:latin typeface="Segoe UI"/>
              </a:rPr>
              <a:t>Lab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95935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0A1F33"/>
                </a:solidFill>
                <a:latin typeface="Segoe UI"/>
              </a:rPr>
              <a:t>Guidelines/Drugs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0" y="2587752"/>
            <a:ext cx="502920" cy="1207008"/>
          </a:xfrm>
          <a:prstGeom prst="line">
            <a:avLst/>
          </a:prstGeom>
          <a:ln w="1270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" y="2971800"/>
            <a:ext cx="502920" cy="822960"/>
          </a:xfrm>
          <a:prstGeom prst="line">
            <a:avLst/>
          </a:prstGeom>
          <a:ln w="1270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3355848"/>
            <a:ext cx="502920" cy="438912"/>
          </a:xfrm>
          <a:prstGeom prst="line">
            <a:avLst/>
          </a:prstGeom>
          <a:ln w="1270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29600" y="3739896"/>
            <a:ext cx="502920" cy="54864"/>
          </a:xfrm>
          <a:prstGeom prst="line">
            <a:avLst/>
          </a:prstGeom>
          <a:ln w="1270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229600" y="3794760"/>
            <a:ext cx="502920" cy="329184"/>
          </a:xfrm>
          <a:prstGeom prst="line">
            <a:avLst/>
          </a:prstGeom>
          <a:ln w="1270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778240" y="342900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E3F5F4"/>
          </a:solidFill>
          <a:ln w="12700">
            <a:solidFill>
              <a:srgbClr val="0EA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76E6A"/>
                </a:solidFill>
                <a:latin typeface="Segoe UI"/>
              </a:rPr>
              <a:t>Agent</a:t>
            </a:r>
          </a:p>
          <a:p>
            <a:pPr algn="ctr"/>
            <a:r>
              <a:rPr sz="900">
                <a:solidFill>
                  <a:srgbClr val="7C8FA3"/>
                </a:solidFill>
                <a:latin typeface="Segoe UI"/>
              </a:rPr>
              <a:t>grounded synthesis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95560" y="3840480"/>
            <a:ext cx="365760" cy="0"/>
          </a:xfrm>
          <a:prstGeom prst="line">
            <a:avLst/>
          </a:prstGeom>
          <a:ln w="25400">
            <a:solidFill>
              <a:srgbClr val="0EA5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607040" y="352044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A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0A1F33"/>
                </a:solidFill>
                <a:latin typeface="Segoe UI"/>
              </a:rPr>
              <a:t>One Grounded Answer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292840" y="4160520"/>
            <a:ext cx="0" cy="868680"/>
          </a:xfrm>
          <a:prstGeom prst="line">
            <a:avLst/>
          </a:prstGeom>
          <a:ln w="17780">
            <a:solidFill>
              <a:srgbClr val="0EA5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607040" y="5074920"/>
            <a:ext cx="1417320" cy="6858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0A1F33"/>
                </a:solidFill>
                <a:latin typeface="Segoe UI"/>
              </a:rPr>
              <a:t>👨‍⚕️</a:t>
            </a:r>
          </a:p>
          <a:p>
            <a:pPr algn="ctr"/>
            <a:r>
              <a:rPr sz="1000">
                <a:solidFill>
                  <a:srgbClr val="46586D"/>
                </a:solidFill>
                <a:latin typeface="Segoe UI"/>
              </a:rPr>
              <a:t>Cardiologist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9893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/>
          <a:lstStyle/>
          <a:p>
            <a:pPr algn="ctr"/>
            <a:r>
              <a:rPr sz="1150" i="1">
                <a:solidFill>
                  <a:srgbClr val="46586D"/>
                </a:solidFill>
                <a:latin typeface="Segoe UI"/>
              </a:rPr>
              <a:t>“Review patient P1005's cardiovascular history, current medications, recent labs, and relevant guidelines — highlight what needs my attention.”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7C8FA3"/>
                </a:solidFill>
                <a:latin typeface="Segoe UI"/>
              </a:rPr>
              <a:t>02 / 06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6547104"/>
            <a:ext cx="82296" cy="82296"/>
          </a:xfrm>
          <a:prstGeom prst="ellipse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473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FA3"/>
                </a:solidFill>
                <a:latin typeface="Segoe UI"/>
              </a:rPr>
              <a:t>CARDIOLOGY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256032" cy="27940"/>
          </a:xfrm>
          <a:prstGeom prst="rect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76E6A"/>
                </a:solidFill>
                <a:latin typeface="Segoe UI"/>
              </a:rPr>
              <a:t>02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33"/>
                </a:solidFill>
                <a:latin typeface="Segoe UI"/>
              </a:rPr>
              <a:t>One question, three tools, one grounded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6586D"/>
                </a:solidFill>
                <a:latin typeface="Segoe UI"/>
              </a:rPr>
              <a:t>Tool selection is deterministic — regex-routed, not chosen by the LLM — a deliberate tradeoff for predictability and auditability in a clinical safety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2900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A1F33"/>
                </a:solidFill>
                <a:latin typeface="Segoe UI"/>
              </a:rPr>
              <a:t>Clinician</a:t>
            </a:r>
          </a:p>
          <a:p>
            <a:pPr algn="ctr"/>
            <a:r>
              <a:rPr sz="900">
                <a:solidFill>
                  <a:srgbClr val="7C8FA3"/>
                </a:solidFill>
                <a:latin typeface="Segoe UI"/>
              </a:rPr>
              <a:t>question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3749039"/>
            <a:ext cx="365760" cy="0"/>
          </a:xfrm>
          <a:prstGeom prst="line">
            <a:avLst/>
          </a:prstGeom>
          <a:ln w="1905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333756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3F5F4"/>
          </a:solidFill>
          <a:ln w="12700">
            <a:solidFill>
              <a:srgbClr val="0EA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76E6A"/>
                </a:solidFill>
                <a:latin typeface="Segoe UI"/>
              </a:rPr>
              <a:t>LangGraph Router</a:t>
            </a:r>
          </a:p>
          <a:p>
            <a:pPr algn="ctr"/>
            <a:r>
              <a:rPr sz="900">
                <a:solidFill>
                  <a:srgbClr val="7C8FA3"/>
                </a:solidFill>
                <a:latin typeface="Segoe UI"/>
              </a:rPr>
              <a:t>deterministic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840480" y="2651760"/>
            <a:ext cx="365760" cy="1234439"/>
          </a:xfrm>
          <a:prstGeom prst="line">
            <a:avLst/>
          </a:prstGeom>
          <a:ln w="1397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51960" y="2331720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A1F33"/>
                </a:solidFill>
                <a:latin typeface="Segoe UI"/>
              </a:rPr>
              <a:t>Patient Database</a:t>
            </a:r>
          </a:p>
          <a:p>
            <a:pPr algn="ctr"/>
            <a:r>
              <a:rPr sz="900">
                <a:solidFill>
                  <a:srgbClr val="7C8FA3"/>
                </a:solidFill>
                <a:latin typeface="Segoe UI"/>
              </a:rPr>
              <a:t>DynamoDB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840480" y="3749040"/>
            <a:ext cx="365760" cy="137159"/>
          </a:xfrm>
          <a:prstGeom prst="line">
            <a:avLst/>
          </a:prstGeom>
          <a:ln w="1397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51960" y="3429000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A1F33"/>
                </a:solidFill>
                <a:latin typeface="Segoe UI"/>
              </a:rPr>
              <a:t>Drug Labels</a:t>
            </a:r>
          </a:p>
          <a:p>
            <a:pPr algn="ctr"/>
            <a:r>
              <a:rPr sz="900">
                <a:solidFill>
                  <a:srgbClr val="7C8FA3"/>
                </a:solidFill>
                <a:latin typeface="Segoe UI"/>
              </a:rPr>
              <a:t>OpenFDA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886199"/>
            <a:ext cx="365760" cy="960121"/>
          </a:xfrm>
          <a:prstGeom prst="line">
            <a:avLst/>
          </a:prstGeom>
          <a:ln w="1397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60" y="4526280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A1F33"/>
                </a:solidFill>
                <a:latin typeface="Segoe UI"/>
              </a:rPr>
              <a:t>Guideline Search</a:t>
            </a:r>
          </a:p>
          <a:p>
            <a:pPr algn="ctr"/>
            <a:r>
              <a:rPr sz="900">
                <a:solidFill>
                  <a:srgbClr val="7C8FA3"/>
                </a:solidFill>
                <a:latin typeface="Segoe UI"/>
              </a:rPr>
              <a:t>OpenSearch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291840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FFECE1"/>
          </a:solidFill>
          <a:ln w="12700">
            <a:solidFill>
              <a:srgbClr val="FF7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7A47"/>
                </a:solidFill>
                <a:latin typeface="Segoe UI"/>
              </a:rPr>
              <a:t>LLM Synthesis</a:t>
            </a:r>
          </a:p>
          <a:p>
            <a:pPr algn="ctr"/>
            <a:r>
              <a:rPr sz="900">
                <a:solidFill>
                  <a:srgbClr val="7C8FA3"/>
                </a:solidFill>
                <a:latin typeface="Segoe UI"/>
              </a:rPr>
              <a:t>gpt-4.1-mini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0" y="2651760"/>
            <a:ext cx="1188720" cy="1188719"/>
          </a:xfrm>
          <a:prstGeom prst="line">
            <a:avLst/>
          </a:prstGeom>
          <a:ln w="1397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6480" y="3749040"/>
            <a:ext cx="1188720" cy="91439"/>
          </a:xfrm>
          <a:prstGeom prst="line">
            <a:avLst/>
          </a:prstGeom>
          <a:ln w="1397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126480" y="3840479"/>
            <a:ext cx="1188720" cy="1005841"/>
          </a:xfrm>
          <a:prstGeom prst="line">
            <a:avLst/>
          </a:prstGeom>
          <a:ln w="1397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15400" y="3840479"/>
            <a:ext cx="365760" cy="0"/>
          </a:xfrm>
          <a:prstGeom prst="line">
            <a:avLst/>
          </a:prstGeom>
          <a:ln w="1905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9281160" y="3246120"/>
            <a:ext cx="1051560" cy="1051560"/>
          </a:xfrm>
          <a:prstGeom prst="diamond">
            <a:avLst/>
          </a:prstGeom>
          <a:noFill/>
          <a:ln w="20320">
            <a:solidFill>
              <a:srgbClr val="1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FAE6B"/>
                </a:solidFill>
                <a:latin typeface="Segoe UI"/>
              </a:rPr>
              <a:t>Guardrail
check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32720" y="3840479"/>
            <a:ext cx="320040" cy="0"/>
          </a:xfrm>
          <a:prstGeom prst="line">
            <a:avLst/>
          </a:prstGeom>
          <a:ln w="1905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698480" y="34290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658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0A1F33"/>
                </a:solidFill>
                <a:latin typeface="Segoe UI"/>
              </a:rPr>
              <a:t>Grounded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>
                <a:solidFill>
                  <a:srgbClr val="7C8FA3"/>
                </a:solidFill>
                <a:latin typeface="Segoe UI"/>
              </a:rPr>
              <a:t>The router calls only the tools a question needs. Every generated answer passes a guardrail check before it's returned (detailed on slide 5).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7C8FA3"/>
                </a:solidFill>
                <a:latin typeface="Segoe UI"/>
              </a:rPr>
              <a:t>03 / 06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6547104"/>
            <a:ext cx="82296" cy="82296"/>
          </a:xfrm>
          <a:prstGeom prst="ellipse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FA3"/>
                </a:solidFill>
                <a:latin typeface="Segoe UI"/>
              </a:rPr>
              <a:t>CARDIOLOGY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256032" cy="27940"/>
          </a:xfrm>
          <a:prstGeom prst="rect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76E6A"/>
                </a:solidFill>
                <a:latin typeface="Segoe UI"/>
              </a:rPr>
              <a:t>03 — TOOLS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33"/>
                </a:solidFill>
                <a:latin typeface="Segoe UI"/>
              </a:rPr>
              <a:t>What's actually powering each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6586D"/>
                </a:solidFill>
                <a:latin typeface="Segoe UI"/>
              </a:rPr>
              <a:t>Four components feed the agent — a live patient store, a public regulatory API, a curated guideline index, and a language model for synthesis.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2286000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E3F5F4"/>
          </a:solidFill>
          <a:ln w="12700">
            <a:solidFill>
              <a:srgbClr val="0EA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76E6A"/>
                </a:solidFill>
                <a:latin typeface="Segoe UI"/>
              </a:rP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27000" tIns="177800"/>
          <a:lstStyle/>
          <a:p>
            <a:pPr algn="ctr"/>
            <a:r>
              <a:rPr sz="2200"/>
              <a:t>🩺</a:t>
            </a:r>
          </a:p>
          <a:p>
            <a:pPr>
              <a:spcBef>
                <a:spcPts val="600"/>
              </a:spcBef>
            </a:pPr>
            <a:r>
              <a:rPr sz="3000" b="1">
                <a:solidFill>
                  <a:srgbClr val="0A1F33"/>
                </a:solidFill>
                <a:latin typeface="Segoe UI"/>
              </a:rPr>
              <a:t>700</a:t>
            </a:r>
            <a:r>
              <a:rPr sz="1300" b="1">
                <a:solidFill>
                  <a:srgbClr val="7C8FA3"/>
                </a:solidFill>
                <a:latin typeface="Segoe UI"/>
              </a:rPr>
              <a:t> records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050">
                <a:solidFill>
                  <a:srgbClr val="46586D"/>
                </a:solidFill>
                <a:latin typeface="Segoe UI"/>
              </a:rPr>
              <a:t>Patient records across 100 synthetic patients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900" b="1">
                <a:solidFill>
                  <a:srgbClr val="7C8FA3"/>
                </a:solidFill>
                <a:latin typeface="Segoe UI"/>
              </a:rPr>
              <a:t>AWS DynamoDB · PatientClinicalRecords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874520.0" y="2788920"/>
            <a:ext cx="4206240.0" cy="457200"/>
          </a:xfrm>
          <a:prstGeom prst="line">
            <a:avLst/>
          </a:prstGeom>
          <a:ln w="13970">
            <a:solidFill>
              <a:srgbClr val="0EA5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80" y="324612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27000" tIns="177800"/>
          <a:lstStyle/>
          <a:p>
            <a:pPr algn="ctr"/>
            <a:r>
              <a:rPr sz="2200"/>
              <a:t>💊</a:t>
            </a:r>
          </a:p>
          <a:p>
            <a:pPr>
              <a:spcBef>
                <a:spcPts val="600"/>
              </a:spcBef>
            </a:pPr>
            <a:r>
              <a:rPr sz="3000" b="1">
                <a:solidFill>
                  <a:srgbClr val="0A1F33"/>
                </a:solidFill>
                <a:latin typeface="Segoe UI"/>
              </a:rPr>
              <a:t>88</a:t>
            </a:r>
            <a:r>
              <a:rPr sz="1300" b="1">
                <a:solidFill>
                  <a:srgbClr val="7C8FA3"/>
                </a:solidFill>
                <a:latin typeface="Segoe UI"/>
              </a:rPr>
              <a:t> drugs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050">
                <a:solidFill>
                  <a:srgbClr val="46586D"/>
                </a:solidFill>
                <a:latin typeface="Segoe UI"/>
              </a:rPr>
              <a:t>Cardiology drug names recognized (generic + brand)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900" b="1">
                <a:solidFill>
                  <a:srgbClr val="7C8FA3"/>
                </a:solidFill>
                <a:latin typeface="Segoe UI"/>
              </a:rPr>
              <a:t>OpenFDA public API · live lookup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709160.0" y="2788920"/>
            <a:ext cx="1371600.0" cy="457200"/>
          </a:xfrm>
          <a:prstGeom prst="line">
            <a:avLst/>
          </a:prstGeom>
          <a:ln w="13970">
            <a:solidFill>
              <a:srgbClr val="0EA5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324612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27000" tIns="177800"/>
          <a:lstStyle/>
          <a:p>
            <a:pPr algn="ctr"/>
            <a:r>
              <a:rPr sz="2200"/>
              <a:t>📖</a:t>
            </a:r>
          </a:p>
          <a:p>
            <a:pPr>
              <a:spcBef>
                <a:spcPts val="600"/>
              </a:spcBef>
            </a:pPr>
            <a:r>
              <a:rPr sz="3000" b="1">
                <a:solidFill>
                  <a:srgbClr val="0A1F33"/>
                </a:solidFill>
                <a:latin typeface="Segoe UI"/>
              </a:rPr>
              <a:t>15</a:t>
            </a:r>
            <a:r>
              <a:rPr sz="1300" b="1">
                <a:solidFill>
                  <a:srgbClr val="7C8FA3"/>
                </a:solidFill>
                <a:latin typeface="Segoe UI"/>
              </a:rPr>
              <a:t> docs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050">
                <a:solidFill>
                  <a:srgbClr val="46586D"/>
                </a:solidFill>
                <a:latin typeface="Segoe UI"/>
              </a:rPr>
              <a:t>Guideline &amp; policy documents indexed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900" b="1">
                <a:solidFill>
                  <a:srgbClr val="7C8FA3"/>
                </a:solidFill>
                <a:latin typeface="Segoe UI"/>
              </a:rPr>
              <a:t>OpenSearch Serverless · text-embedding-3-small · 1536-dim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6080760" y="2788920"/>
            <a:ext cx="1463040.0" cy="457200"/>
          </a:xfrm>
          <a:prstGeom prst="line">
            <a:avLst/>
          </a:prstGeom>
          <a:ln w="13970">
            <a:solidFill>
              <a:srgbClr val="0EA5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60" y="324612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27000" tIns="177800"/>
          <a:lstStyle/>
          <a:p>
            <a:pPr algn="ctr"/>
            <a:r>
              <a:rPr sz="2200"/>
              <a:t>🧠</a:t>
            </a:r>
          </a:p>
          <a:p>
            <a:pPr>
              <a:spcBef>
                <a:spcPts val="600"/>
              </a:spcBef>
            </a:pPr>
            <a:r>
              <a:rPr sz="3000" b="1">
                <a:solidFill>
                  <a:srgbClr val="0A1F33"/>
                </a:solidFill>
                <a:latin typeface="Segoe UI"/>
              </a:rPr>
              <a:t>4.1</a:t>
            </a:r>
            <a:r>
              <a:rPr sz="1300" b="1">
                <a:solidFill>
                  <a:srgbClr val="7C8FA3"/>
                </a:solidFill>
                <a:latin typeface="Segoe UI"/>
              </a:rPr>
              <a:t> mini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050">
                <a:solidFill>
                  <a:srgbClr val="46586D"/>
                </a:solidFill>
                <a:latin typeface="Segoe UI"/>
              </a:rPr>
              <a:t>Answer synthesis model, via LangChain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900" b="1">
                <a:solidFill>
                  <a:srgbClr val="7C8FA3"/>
                </a:solidFill>
                <a:latin typeface="Segoe UI"/>
              </a:rPr>
              <a:t>Azure OpenAI · gpt-4.1-mini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6080760" y="2788920"/>
            <a:ext cx="4297680.0" cy="457200"/>
          </a:xfrm>
          <a:prstGeom prst="line">
            <a:avLst/>
          </a:prstGeom>
          <a:ln w="13970">
            <a:solidFill>
              <a:srgbClr val="0EA5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7C8FA3"/>
                </a:solidFill>
                <a:latin typeface="Segoe UI"/>
              </a:rPr>
              <a:t>04 / 06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6547104"/>
            <a:ext cx="82296" cy="82296"/>
          </a:xfrm>
          <a:prstGeom prst="ellipse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FA3"/>
                </a:solidFill>
                <a:latin typeface="Segoe UI"/>
              </a:rPr>
              <a:t>CARDIOLOGY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256032" cy="27940"/>
          </a:xfrm>
          <a:prstGeom prst="rect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76E6A"/>
                </a:solidFill>
                <a:latin typeface="Segoe UI"/>
              </a:rPr>
              <a:t>04 — GROUNDING &amp;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33"/>
                </a:solidFill>
                <a:latin typeface="Segoe UI"/>
              </a:rPr>
              <a:t>Every answer is checked before it 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6586D"/>
                </a:solidFill>
                <a:latin typeface="Segoe UI"/>
              </a:rPr>
              <a:t>The system prompt requires verbatim, cited facts and treats retrieved content as data, never instructions. A generated answer still passes three independent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0A1F33"/>
                </a:solidFill>
                <a:latin typeface="Segoe UI"/>
              </a:rPr>
              <a:t>LLM Draft Answer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3566160"/>
            <a:ext cx="274320" cy="0"/>
          </a:xfrm>
          <a:prstGeom prst="line">
            <a:avLst/>
          </a:prstGeom>
          <a:ln w="1905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3337560"/>
            <a:ext cx="14173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658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0A1F33"/>
                </a:solidFill>
                <a:latin typeface="Segoe UI"/>
              </a:rPr>
              <a:t>Unsafe Language?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3566160"/>
            <a:ext cx="228600" cy="0"/>
          </a:xfrm>
          <a:prstGeom prst="line">
            <a:avLst/>
          </a:prstGeom>
          <a:ln w="1905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3337560"/>
            <a:ext cx="14173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658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0A1F33"/>
                </a:solidFill>
                <a:latin typeface="Segoe UI"/>
              </a:rPr>
              <a:t>Injection Leak?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0" y="3566160"/>
            <a:ext cx="228600" cy="0"/>
          </a:xfrm>
          <a:prstGeom prst="line">
            <a:avLst/>
          </a:prstGeom>
          <a:ln w="1905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32120" y="3337560"/>
            <a:ext cx="14173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658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0A1F33"/>
                </a:solidFill>
                <a:latin typeface="Segoe UI"/>
              </a:rPr>
              <a:t>Fabricated Fact?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178040" y="2606040"/>
            <a:ext cx="960120" cy="822960"/>
          </a:xfrm>
          <a:prstGeom prst="line">
            <a:avLst/>
          </a:prstGeom>
          <a:ln w="20320">
            <a:solidFill>
              <a:srgbClr val="1FAE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23760" y="2788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AE6B"/>
                </a:solidFill>
                <a:latin typeface="Segoe UI"/>
              </a:rPr>
              <a:t>all pass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8040" y="3794760"/>
            <a:ext cx="960120" cy="822960"/>
          </a:xfrm>
          <a:prstGeom prst="line">
            <a:avLst/>
          </a:prstGeom>
          <a:ln w="20320">
            <a:solidFill>
              <a:srgbClr val="E14B4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23760" y="4160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14B4B"/>
                </a:solidFill>
                <a:latin typeface="Segoe UI"/>
              </a:rPr>
              <a:t>any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3317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E3F7EC"/>
          </a:solidFill>
          <a:ln w="12700">
            <a:solidFill>
              <a:srgbClr val="1FA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1FAE6B"/>
                </a:solidFill>
                <a:latin typeface="Segoe UI"/>
              </a:rPr>
              <a:t>✅ Answer Delivered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3434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12700">
            <a:solidFill>
              <a:srgbClr val="E1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E14B4B"/>
                </a:solidFill>
                <a:latin typeface="Segoe UI"/>
              </a:rPr>
              <a:t>❌ Fallback: Evidence Summary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04120" y="2670048"/>
            <a:ext cx="502920" cy="621792"/>
          </a:xfrm>
          <a:prstGeom prst="line">
            <a:avLst/>
          </a:prstGeom>
          <a:ln w="1397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104120" y="3703320"/>
            <a:ext cx="502920" cy="978408"/>
          </a:xfrm>
          <a:prstGeom prst="line">
            <a:avLst/>
          </a:prstGeom>
          <a:ln w="13970">
            <a:solidFill>
              <a:srgbClr val="7C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52760" y="3291840"/>
            <a:ext cx="10972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658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0A1F33"/>
                </a:solidFill>
                <a:latin typeface="Segoe UI"/>
              </a:rPr>
              <a:t>Delivered to Clinician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2400" b="1">
                <a:solidFill>
                  <a:srgbClr val="0A1F33"/>
                </a:solidFill>
                <a:latin typeface="Segoe UI"/>
              </a:rPr>
              <a:t>55% </a:t>
            </a:r>
            <a:r>
              <a:rPr sz="2400">
                <a:solidFill>
                  <a:srgbClr val="7C8FA3"/>
                </a:solidFill>
                <a:latin typeface="Segoe UI"/>
              </a:rPr>
              <a:t>→ </a:t>
            </a:r>
            <a:r>
              <a:rPr sz="2400" b="1">
                <a:solidFill>
                  <a:srgbClr val="FF7A47"/>
                </a:solidFill>
                <a:latin typeface="Segoe UI"/>
              </a:rPr>
              <a:t>97%</a:t>
            </a:r>
            <a:r>
              <a:rPr sz="1100">
                <a:solidFill>
                  <a:srgbClr val="7C8FA3"/>
                </a:solidFill>
                <a:latin typeface="Segoe UI"/>
              </a:rPr>
              <a:t>   100-question grounded-answer eval pass rate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6586D"/>
                </a:solidFill>
                <a:latin typeface="Segoe UI"/>
              </a:rPr>
              <a:t>Measured after the grounding fix; predates the LangGraph rewrite and guardrail layer — re-validation against the current architecture is recommended, not yet re-run.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7C8FA3"/>
                </a:solidFill>
                <a:latin typeface="Segoe UI"/>
              </a:rPr>
              <a:t>05 / 06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6547104"/>
            <a:ext cx="82296" cy="82296"/>
          </a:xfrm>
          <a:prstGeom prst="ellipse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FA3"/>
                </a:solidFill>
                <a:latin typeface="Segoe UI"/>
              </a:rPr>
              <a:t>CARDIOLOGY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256032" cy="27940"/>
          </a:xfrm>
          <a:prstGeom prst="rect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76E6A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33"/>
                </a:solidFill>
                <a:latin typeface="Segoe UI"/>
              </a:rPr>
              <a:t>Grounded, tool-routed, guardrail-checked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6586D"/>
                </a:solidFill>
                <a:latin typeface="Segoe UI"/>
              </a:rPr>
              <a:t>A decision-support agent built to be predictable and auditable first — every fact traced to a source, every generated answer checked before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 rIns="76200"/>
          <a:lstStyle/>
          <a:p>
            <a:pPr algn="ctr"/>
            <a:r>
              <a:rPr sz="1600"/>
              <a:t>✅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F33"/>
                </a:solidFill>
                <a:latin typeface="Segoe UI"/>
              </a:rPr>
              <a:t>183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00">
                <a:solidFill>
                  <a:srgbClr val="46586D"/>
                </a:solidFill>
                <a:latin typeface="Segoe UI"/>
              </a:rPr>
              <a:t>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210312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 rIns="76200"/>
          <a:lstStyle/>
          <a:p>
            <a:pPr algn="ctr"/>
            <a:r>
              <a:rPr sz="1600"/>
              <a:t>🩺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F33"/>
                </a:solidFill>
                <a:latin typeface="Segoe UI"/>
              </a:rPr>
              <a:t>700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00">
                <a:solidFill>
                  <a:srgbClr val="46586D"/>
                </a:solidFill>
                <a:latin typeface="Segoe UI"/>
              </a:rPr>
              <a:t>Patient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10312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 rIns="76200"/>
          <a:lstStyle/>
          <a:p>
            <a:pPr algn="ctr"/>
            <a:r>
              <a:rPr sz="1600"/>
              <a:t>📖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F33"/>
                </a:solidFill>
                <a:latin typeface="Segoe UI"/>
              </a:rPr>
              <a:t>15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00">
                <a:solidFill>
                  <a:srgbClr val="46586D"/>
                </a:solidFill>
                <a:latin typeface="Segoe UI"/>
              </a:rPr>
              <a:t>Guideline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210312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 rIns="76200"/>
          <a:lstStyle/>
          <a:p>
            <a:pPr algn="ctr"/>
            <a:r>
              <a:rPr sz="1600"/>
              <a:t>🧬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F33"/>
                </a:solidFill>
                <a:latin typeface="Segoe UI"/>
              </a:rPr>
              <a:t>1536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00">
                <a:solidFill>
                  <a:srgbClr val="46586D"/>
                </a:solidFill>
                <a:latin typeface="Segoe UI"/>
              </a:rPr>
              <a:t>Embedding dimensions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10312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 rIns="76200"/>
          <a:lstStyle/>
          <a:p>
            <a:pPr algn="ctr"/>
            <a:r>
              <a:rPr sz="1600"/>
              <a:t>💊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F33"/>
                </a:solidFill>
                <a:latin typeface="Segoe UI"/>
              </a:rPr>
              <a:t>88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00">
                <a:solidFill>
                  <a:srgbClr val="46586D"/>
                </a:solidFill>
                <a:latin typeface="Segoe UI"/>
              </a:rPr>
              <a:t>Drugs recognized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210312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 rIns="76200"/>
          <a:lstStyle/>
          <a:p>
            <a:pPr algn="ctr"/>
            <a:r>
              <a:rPr sz="1600"/>
              <a:t>🛡️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F33"/>
                </a:solidFill>
                <a:latin typeface="Segoe UI"/>
              </a:rPr>
              <a:t>3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900">
                <a:solidFill>
                  <a:srgbClr val="46586D"/>
                </a:solidFill>
                <a:latin typeface="Segoe UI"/>
              </a:rPr>
              <a:t>Guardrail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77800" rIns="177800"/>
          <a:lstStyle/>
          <a:p>
            <a:pPr algn="ctr"/>
            <a:r>
              <a:rPr sz="1300" b="1">
                <a:solidFill>
                  <a:srgbClr val="0A1F33"/>
                </a:solidFill>
                <a:latin typeface="Segoe UI"/>
              </a:rPr>
              <a:t>✅ Solid today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100">
                <a:solidFill>
                  <a:srgbClr val="46586D"/>
                </a:solidFill>
                <a:latin typeface="Segoe UI"/>
              </a:rPr>
              <a:t>Real embeddings live-verified · deterministic, auditable tool routing · per-tool status visible to the clinician · 183 passing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394960" cy="40640"/>
          </a:xfrm>
          <a:prstGeom prst="rect">
            <a:avLst/>
          </a:prstGeom>
          <a:solidFill>
            <a:srgbClr val="1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7947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77800" rIns="177800"/>
          <a:lstStyle/>
          <a:p>
            <a:pPr algn="ctr"/>
            <a:r>
              <a:rPr sz="1300" b="1">
                <a:solidFill>
                  <a:srgbClr val="0A1F33"/>
                </a:solidFill>
                <a:latin typeface="Segoe UI"/>
              </a:rPr>
              <a:t>→ Next up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100">
                <a:solidFill>
                  <a:srgbClr val="46586D"/>
                </a:solidFill>
                <a:latin typeface="Segoe UI"/>
              </a:rPr>
              <a:t>Re-run the 100-question eval against the current architecture · expand the guideline library beyond 15 documents · broaden drug coverage further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5440680" cy="40640"/>
          </a:xfrm>
          <a:prstGeom prst="rect">
            <a:avLst/>
          </a:prstGeom>
          <a:solidFill>
            <a:srgbClr val="FF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7C8FA3"/>
                </a:solidFill>
                <a:latin typeface="Segoe UI"/>
              </a:rPr>
              <a:t>06 / 06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6547104"/>
            <a:ext cx="82296" cy="82296"/>
          </a:xfrm>
          <a:prstGeom prst="ellipse">
            <a:avLst/>
          </a:prstGeom>
          <a:solidFill>
            <a:srgbClr val="0E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FA3"/>
                </a:solidFill>
                <a:latin typeface="Segoe UI"/>
              </a:rPr>
              <a:t>CARDIOLOGY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